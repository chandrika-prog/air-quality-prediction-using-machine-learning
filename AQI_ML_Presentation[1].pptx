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9" r:id="rId1"/>
  </p:sldMasterIdLst>
  <p:notesMasterIdLst>
    <p:notesMasterId r:id="rId25"/>
  </p:notesMasterIdLst>
  <p:sldIdLst>
    <p:sldId id="256" r:id="rId2"/>
    <p:sldId id="272" r:id="rId3"/>
    <p:sldId id="267" r:id="rId4"/>
    <p:sldId id="257" r:id="rId5"/>
    <p:sldId id="258" r:id="rId6"/>
    <p:sldId id="277" r:id="rId7"/>
    <p:sldId id="271" r:id="rId8"/>
    <p:sldId id="259" r:id="rId9"/>
    <p:sldId id="260" r:id="rId10"/>
    <p:sldId id="279" r:id="rId11"/>
    <p:sldId id="261" r:id="rId12"/>
    <p:sldId id="262" r:id="rId13"/>
    <p:sldId id="273" r:id="rId14"/>
    <p:sldId id="274" r:id="rId15"/>
    <p:sldId id="276" r:id="rId16"/>
    <p:sldId id="268" r:id="rId17"/>
    <p:sldId id="275" r:id="rId18"/>
    <p:sldId id="278" r:id="rId19"/>
    <p:sldId id="263" r:id="rId20"/>
    <p:sldId id="264" r:id="rId21"/>
    <p:sldId id="265" r:id="rId22"/>
    <p:sldId id="266" r:id="rId23"/>
    <p:sldId id="27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9384E-5A77-4C3B-B789-2534A3D0DC33}" v="2" dt="2025-03-19T08:38:05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3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ika kuna" userId="554804c843fb444e" providerId="LiveId" clId="{9C29384E-5A77-4C3B-B789-2534A3D0DC33}"/>
    <pc:docChg chg="modSld">
      <pc:chgData name="chandrika kuna" userId="554804c843fb444e" providerId="LiveId" clId="{9C29384E-5A77-4C3B-B789-2534A3D0DC33}" dt="2025-03-19T08:38:05.542" v="59" actId="21"/>
      <pc:docMkLst>
        <pc:docMk/>
      </pc:docMkLst>
      <pc:sldChg chg="modSp mod">
        <pc:chgData name="chandrika kuna" userId="554804c843fb444e" providerId="LiveId" clId="{9C29384E-5A77-4C3B-B789-2534A3D0DC33}" dt="2025-03-19T08:37:42.366" v="29" actId="20577"/>
        <pc:sldMkLst>
          <pc:docMk/>
          <pc:sldMk cId="0" sldId="260"/>
        </pc:sldMkLst>
        <pc:spChg chg="mod">
          <ac:chgData name="chandrika kuna" userId="554804c843fb444e" providerId="LiveId" clId="{9C29384E-5A77-4C3B-B789-2534A3D0DC33}" dt="2025-03-19T08:37:42.366" v="29" actId="20577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chandrika kuna" userId="554804c843fb444e" providerId="LiveId" clId="{9C29384E-5A77-4C3B-B789-2534A3D0DC33}" dt="2025-03-19T08:38:05.542" v="59" actId="21"/>
        <pc:sldMkLst>
          <pc:docMk/>
          <pc:sldMk cId="0" sldId="262"/>
        </pc:sldMkLst>
        <pc:spChg chg="mod">
          <ac:chgData name="chandrika kuna" userId="554804c843fb444e" providerId="LiveId" clId="{9C29384E-5A77-4C3B-B789-2534A3D0DC33}" dt="2025-03-19T08:37:57.882" v="57" actId="20577"/>
          <ac:spMkLst>
            <pc:docMk/>
            <pc:sldMk cId="0" sldId="262"/>
            <ac:spMk id="3" creationId="{00000000-0000-0000-0000-000000000000}"/>
          </ac:spMkLst>
        </pc:spChg>
        <pc:picChg chg="del mod">
          <ac:chgData name="chandrika kuna" userId="554804c843fb444e" providerId="LiveId" clId="{9C29384E-5A77-4C3B-B789-2534A3D0DC33}" dt="2025-03-19T08:38:05.542" v="59" actId="21"/>
          <ac:picMkLst>
            <pc:docMk/>
            <pc:sldMk cId="0" sldId="262"/>
            <ac:picMk id="5130" creationId="{6D910D85-0A3D-061A-C0C1-87596A8E1B9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1E03A8-62D6-434E-9733-3293D161DAE8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BD8C8A-301D-4EE9-ADA1-F4AB2038F7DD}">
      <dgm:prSet phldrT="[Text]"/>
      <dgm:spPr>
        <a:gradFill rotWithShape="0">
          <a:gsLst>
            <a:gs pos="0">
              <a:schemeClr val="accent1">
                <a:hueOff val="0"/>
                <a:satOff val="0"/>
                <a:lumOff val="0"/>
                <a:tint val="96000"/>
                <a:lumMod val="100000"/>
                <a:alpha val="1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</a:gradFill>
      </dgm:spPr>
      <dgm:t>
        <a:bodyPr/>
        <a:lstStyle/>
        <a:p>
          <a:r>
            <a:rPr lang="en-US" dirty="0"/>
            <a:t>Presented By</a:t>
          </a:r>
        </a:p>
      </dgm:t>
    </dgm:pt>
    <dgm:pt modelId="{3DF79A2D-AE96-48B8-94D6-36C53689505F}" type="parTrans" cxnId="{EECDB63A-DB03-4603-8E2F-5E8156987070}">
      <dgm:prSet/>
      <dgm:spPr/>
      <dgm:t>
        <a:bodyPr/>
        <a:lstStyle/>
        <a:p>
          <a:endParaRPr lang="en-US"/>
        </a:p>
      </dgm:t>
    </dgm:pt>
    <dgm:pt modelId="{82F596FD-6974-4251-9550-5B0C04FAE175}" type="sibTrans" cxnId="{EECDB63A-DB03-4603-8E2F-5E8156987070}">
      <dgm:prSet/>
      <dgm:spPr/>
      <dgm:t>
        <a:bodyPr/>
        <a:lstStyle/>
        <a:p>
          <a:endParaRPr lang="en-US"/>
        </a:p>
      </dgm:t>
    </dgm:pt>
    <dgm:pt modelId="{347A5502-8F5B-4FDC-82A4-76E8ADC546A1}">
      <dgm:prSet phldrT="[Text]"/>
      <dgm:spPr/>
      <dgm:t>
        <a:bodyPr/>
        <a:lstStyle/>
        <a:p>
          <a:r>
            <a:rPr lang="en-US" dirty="0"/>
            <a:t>K.CHANDRIKA</a:t>
          </a:r>
        </a:p>
      </dgm:t>
    </dgm:pt>
    <dgm:pt modelId="{6B634A7C-2C93-4173-A30E-755D17AA4679}" type="parTrans" cxnId="{8BED57FA-9D46-44FF-A006-6942CF0F22ED}">
      <dgm:prSet/>
      <dgm:spPr/>
      <dgm:t>
        <a:bodyPr/>
        <a:lstStyle/>
        <a:p>
          <a:endParaRPr lang="en-US"/>
        </a:p>
      </dgm:t>
    </dgm:pt>
    <dgm:pt modelId="{1FD44A8B-EC48-458E-97F7-663E73FB89B4}" type="sibTrans" cxnId="{8BED57FA-9D46-44FF-A006-6942CF0F22ED}">
      <dgm:prSet/>
      <dgm:spPr/>
      <dgm:t>
        <a:bodyPr/>
        <a:lstStyle/>
        <a:p>
          <a:endParaRPr lang="en-US"/>
        </a:p>
      </dgm:t>
    </dgm:pt>
    <dgm:pt modelId="{987A2591-DA13-40FB-8EB2-62318F31DDF3}">
      <dgm:prSet phldrT="[Text]"/>
      <dgm:spPr>
        <a:gradFill rotWithShape="0">
          <a:gsLst>
            <a:gs pos="23055">
              <a:srgbClr val="91BF3A">
                <a:alpha val="2000"/>
              </a:srgbClr>
            </a:gs>
            <a:gs pos="45474">
              <a:srgbClr val="8CB930"/>
            </a:gs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shade val="94000"/>
                <a:lumMod val="94000"/>
                <a:alpha val="50000"/>
              </a:schemeClr>
            </a:gs>
          </a:gsLst>
        </a:gradFill>
      </dgm:spPr>
      <dgm:t>
        <a:bodyPr/>
        <a:lstStyle/>
        <a:p>
          <a:r>
            <a:rPr lang="en-US" dirty="0"/>
            <a:t>MENTOR</a:t>
          </a:r>
        </a:p>
      </dgm:t>
    </dgm:pt>
    <dgm:pt modelId="{16DF8674-9DBB-45A1-94E8-C49EAEC291B1}" type="parTrans" cxnId="{62180A37-74CF-46EB-9193-696B471E0E2B}">
      <dgm:prSet/>
      <dgm:spPr/>
      <dgm:t>
        <a:bodyPr/>
        <a:lstStyle/>
        <a:p>
          <a:endParaRPr lang="en-US"/>
        </a:p>
      </dgm:t>
    </dgm:pt>
    <dgm:pt modelId="{5CC39ADC-5AE8-4CAA-A882-0E5D5D6A4F0A}" type="sibTrans" cxnId="{62180A37-74CF-46EB-9193-696B471E0E2B}">
      <dgm:prSet/>
      <dgm:spPr/>
      <dgm:t>
        <a:bodyPr/>
        <a:lstStyle/>
        <a:p>
          <a:endParaRPr lang="en-US"/>
        </a:p>
      </dgm:t>
    </dgm:pt>
    <dgm:pt modelId="{9F0F039B-C960-4936-AC52-8CA97D1F95C6}">
      <dgm:prSet phldrT="[Text]"/>
      <dgm:spPr/>
      <dgm:t>
        <a:bodyPr/>
        <a:lstStyle/>
        <a:p>
          <a:r>
            <a:rPr lang="en-US" dirty="0" err="1"/>
            <a:t>Mrs</a:t>
          </a:r>
          <a:r>
            <a:rPr lang="en-US" dirty="0"/>
            <a:t> D Sameera</a:t>
          </a:r>
        </a:p>
      </dgm:t>
    </dgm:pt>
    <dgm:pt modelId="{4B2F98C8-69B8-482F-B671-EEE67BC76C58}" type="parTrans" cxnId="{E9DA3C5B-18F7-4BE4-B3B3-17E9A11C394B}">
      <dgm:prSet/>
      <dgm:spPr/>
      <dgm:t>
        <a:bodyPr/>
        <a:lstStyle/>
        <a:p>
          <a:endParaRPr lang="en-US"/>
        </a:p>
      </dgm:t>
    </dgm:pt>
    <dgm:pt modelId="{23ADF2BC-E596-4543-A506-6660A6E2F1AE}" type="sibTrans" cxnId="{E9DA3C5B-18F7-4BE4-B3B3-17E9A11C394B}">
      <dgm:prSet/>
      <dgm:spPr/>
      <dgm:t>
        <a:bodyPr/>
        <a:lstStyle/>
        <a:p>
          <a:endParaRPr lang="en-US"/>
        </a:p>
      </dgm:t>
    </dgm:pt>
    <dgm:pt modelId="{181AA93C-9AB3-4CC9-9B6E-C5B0B0CF0B51}">
      <dgm:prSet phldrT="[Text]"/>
      <dgm:spPr/>
      <dgm:t>
        <a:bodyPr/>
        <a:lstStyle/>
        <a:p>
          <a:r>
            <a:rPr lang="en-US" dirty="0"/>
            <a:t>M.SIVA DURGA PRASAD</a:t>
          </a:r>
        </a:p>
      </dgm:t>
    </dgm:pt>
    <dgm:pt modelId="{EBBAD865-5247-40AB-A717-CC10E63B3D25}" type="parTrans" cxnId="{291EFB2A-5318-40FC-9FD2-429EBF0436C0}">
      <dgm:prSet/>
      <dgm:spPr/>
      <dgm:t>
        <a:bodyPr/>
        <a:lstStyle/>
        <a:p>
          <a:endParaRPr lang="en-US"/>
        </a:p>
      </dgm:t>
    </dgm:pt>
    <dgm:pt modelId="{B99B5047-3A4D-4518-9EDC-4D3D24DEE34B}" type="sibTrans" cxnId="{291EFB2A-5318-40FC-9FD2-429EBF0436C0}">
      <dgm:prSet/>
      <dgm:spPr/>
      <dgm:t>
        <a:bodyPr/>
        <a:lstStyle/>
        <a:p>
          <a:endParaRPr lang="en-US"/>
        </a:p>
      </dgm:t>
    </dgm:pt>
    <dgm:pt modelId="{F7099078-31C3-4459-99F6-B5C2C628EF3E}" type="pres">
      <dgm:prSet presAssocID="{731E03A8-62D6-434E-9733-3293D161DAE8}" presName="linear" presStyleCnt="0">
        <dgm:presLayoutVars>
          <dgm:animLvl val="lvl"/>
          <dgm:resizeHandles val="exact"/>
        </dgm:presLayoutVars>
      </dgm:prSet>
      <dgm:spPr/>
    </dgm:pt>
    <dgm:pt modelId="{A9A6357F-F3BD-413D-80C0-D9EE93739794}" type="pres">
      <dgm:prSet presAssocID="{A7BD8C8A-301D-4EE9-ADA1-F4AB2038F7D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77E601-2658-436E-9583-DF5A055194B7}" type="pres">
      <dgm:prSet presAssocID="{A7BD8C8A-301D-4EE9-ADA1-F4AB2038F7DD}" presName="childText" presStyleLbl="revTx" presStyleIdx="0" presStyleCnt="2">
        <dgm:presLayoutVars>
          <dgm:bulletEnabled val="1"/>
        </dgm:presLayoutVars>
      </dgm:prSet>
      <dgm:spPr/>
    </dgm:pt>
    <dgm:pt modelId="{748D24B9-62D2-4D40-9951-9491FFE1BBD2}" type="pres">
      <dgm:prSet presAssocID="{987A2591-DA13-40FB-8EB2-62318F31DD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C8D6172-4F90-4E82-9394-87F43C51D96A}" type="pres">
      <dgm:prSet presAssocID="{987A2591-DA13-40FB-8EB2-62318F31DD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91EFB2A-5318-40FC-9FD2-429EBF0436C0}" srcId="{A7BD8C8A-301D-4EE9-ADA1-F4AB2038F7DD}" destId="{181AA93C-9AB3-4CC9-9B6E-C5B0B0CF0B51}" srcOrd="1" destOrd="0" parTransId="{EBBAD865-5247-40AB-A717-CC10E63B3D25}" sibTransId="{B99B5047-3A4D-4518-9EDC-4D3D24DEE34B}"/>
    <dgm:cxn modelId="{0109142D-C01A-4A95-84F5-ED8F653F5DBA}" type="presOf" srcId="{181AA93C-9AB3-4CC9-9B6E-C5B0B0CF0B51}" destId="{B277E601-2658-436E-9583-DF5A055194B7}" srcOrd="0" destOrd="1" presId="urn:microsoft.com/office/officeart/2005/8/layout/vList2"/>
    <dgm:cxn modelId="{62180A37-74CF-46EB-9193-696B471E0E2B}" srcId="{731E03A8-62D6-434E-9733-3293D161DAE8}" destId="{987A2591-DA13-40FB-8EB2-62318F31DDF3}" srcOrd="1" destOrd="0" parTransId="{16DF8674-9DBB-45A1-94E8-C49EAEC291B1}" sibTransId="{5CC39ADC-5AE8-4CAA-A882-0E5D5D6A4F0A}"/>
    <dgm:cxn modelId="{EECDB63A-DB03-4603-8E2F-5E8156987070}" srcId="{731E03A8-62D6-434E-9733-3293D161DAE8}" destId="{A7BD8C8A-301D-4EE9-ADA1-F4AB2038F7DD}" srcOrd="0" destOrd="0" parTransId="{3DF79A2D-AE96-48B8-94D6-36C53689505F}" sibTransId="{82F596FD-6974-4251-9550-5B0C04FAE175}"/>
    <dgm:cxn modelId="{E9DA3C5B-18F7-4BE4-B3B3-17E9A11C394B}" srcId="{987A2591-DA13-40FB-8EB2-62318F31DDF3}" destId="{9F0F039B-C960-4936-AC52-8CA97D1F95C6}" srcOrd="0" destOrd="0" parTransId="{4B2F98C8-69B8-482F-B671-EEE67BC76C58}" sibTransId="{23ADF2BC-E596-4543-A506-6660A6E2F1AE}"/>
    <dgm:cxn modelId="{F2D424A9-1A87-4247-B3FC-508528ED5791}" type="presOf" srcId="{987A2591-DA13-40FB-8EB2-62318F31DDF3}" destId="{748D24B9-62D2-4D40-9951-9491FFE1BBD2}" srcOrd="0" destOrd="0" presId="urn:microsoft.com/office/officeart/2005/8/layout/vList2"/>
    <dgm:cxn modelId="{AE4F55B2-290B-4736-983E-FC8728A3C22B}" type="presOf" srcId="{731E03A8-62D6-434E-9733-3293D161DAE8}" destId="{F7099078-31C3-4459-99F6-B5C2C628EF3E}" srcOrd="0" destOrd="0" presId="urn:microsoft.com/office/officeart/2005/8/layout/vList2"/>
    <dgm:cxn modelId="{812608B7-DF75-42F2-BB56-23BE35270C6F}" type="presOf" srcId="{347A5502-8F5B-4FDC-82A4-76E8ADC546A1}" destId="{B277E601-2658-436E-9583-DF5A055194B7}" srcOrd="0" destOrd="0" presId="urn:microsoft.com/office/officeart/2005/8/layout/vList2"/>
    <dgm:cxn modelId="{9E9BE7CE-2F14-48D0-8A4D-4566CBDA3672}" type="presOf" srcId="{A7BD8C8A-301D-4EE9-ADA1-F4AB2038F7DD}" destId="{A9A6357F-F3BD-413D-80C0-D9EE93739794}" srcOrd="0" destOrd="0" presId="urn:microsoft.com/office/officeart/2005/8/layout/vList2"/>
    <dgm:cxn modelId="{D1399EE5-0811-42F4-919A-8085C90C817B}" type="presOf" srcId="{9F0F039B-C960-4936-AC52-8CA97D1F95C6}" destId="{7C8D6172-4F90-4E82-9394-87F43C51D96A}" srcOrd="0" destOrd="0" presId="urn:microsoft.com/office/officeart/2005/8/layout/vList2"/>
    <dgm:cxn modelId="{8BED57FA-9D46-44FF-A006-6942CF0F22ED}" srcId="{A7BD8C8A-301D-4EE9-ADA1-F4AB2038F7DD}" destId="{347A5502-8F5B-4FDC-82A4-76E8ADC546A1}" srcOrd="0" destOrd="0" parTransId="{6B634A7C-2C93-4173-A30E-755D17AA4679}" sibTransId="{1FD44A8B-EC48-458E-97F7-663E73FB89B4}"/>
    <dgm:cxn modelId="{00EC7E9A-E21A-42E4-967F-A8D2688BFDCE}" type="presParOf" srcId="{F7099078-31C3-4459-99F6-B5C2C628EF3E}" destId="{A9A6357F-F3BD-413D-80C0-D9EE93739794}" srcOrd="0" destOrd="0" presId="urn:microsoft.com/office/officeart/2005/8/layout/vList2"/>
    <dgm:cxn modelId="{47DE963D-65B9-430F-8146-4A9C841C3A65}" type="presParOf" srcId="{F7099078-31C3-4459-99F6-B5C2C628EF3E}" destId="{B277E601-2658-436E-9583-DF5A055194B7}" srcOrd="1" destOrd="0" presId="urn:microsoft.com/office/officeart/2005/8/layout/vList2"/>
    <dgm:cxn modelId="{3467A1D2-116B-465A-B68B-FDDA748477B9}" type="presParOf" srcId="{F7099078-31C3-4459-99F6-B5C2C628EF3E}" destId="{748D24B9-62D2-4D40-9951-9491FFE1BBD2}" srcOrd="2" destOrd="0" presId="urn:microsoft.com/office/officeart/2005/8/layout/vList2"/>
    <dgm:cxn modelId="{A141C689-3147-4B72-9241-5829E19439F5}" type="presParOf" srcId="{F7099078-31C3-4459-99F6-B5C2C628EF3E}" destId="{7C8D6172-4F90-4E82-9394-87F43C51D9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6357F-F3BD-413D-80C0-D9EE93739794}">
      <dsp:nvSpPr>
        <dsp:cNvPr id="0" name=""/>
        <dsp:cNvSpPr/>
      </dsp:nvSpPr>
      <dsp:spPr>
        <a:xfrm>
          <a:off x="0" y="27565"/>
          <a:ext cx="2733367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tint val="96000"/>
                <a:lumMod val="100000"/>
                <a:alpha val="1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Presented By</a:t>
          </a:r>
        </a:p>
      </dsp:txBody>
      <dsp:txXfrm>
        <a:off x="19419" y="46984"/>
        <a:ext cx="2694529" cy="358962"/>
      </dsp:txXfrm>
    </dsp:sp>
    <dsp:sp modelId="{B277E601-2658-436E-9583-DF5A055194B7}">
      <dsp:nvSpPr>
        <dsp:cNvPr id="0" name=""/>
        <dsp:cNvSpPr/>
      </dsp:nvSpPr>
      <dsp:spPr>
        <a:xfrm>
          <a:off x="0" y="425365"/>
          <a:ext cx="2733367" cy="431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8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K.CHANDRIKA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M.SIVA DURGA PRASAD</a:t>
          </a:r>
        </a:p>
      </dsp:txBody>
      <dsp:txXfrm>
        <a:off x="0" y="425365"/>
        <a:ext cx="2733367" cy="431077"/>
      </dsp:txXfrm>
    </dsp:sp>
    <dsp:sp modelId="{748D24B9-62D2-4D40-9951-9491FFE1BBD2}">
      <dsp:nvSpPr>
        <dsp:cNvPr id="0" name=""/>
        <dsp:cNvSpPr/>
      </dsp:nvSpPr>
      <dsp:spPr>
        <a:xfrm>
          <a:off x="0" y="856442"/>
          <a:ext cx="2733367" cy="397800"/>
        </a:xfrm>
        <a:prstGeom prst="roundRect">
          <a:avLst/>
        </a:prstGeom>
        <a:gradFill rotWithShape="0">
          <a:gsLst>
            <a:gs pos="23055">
              <a:srgbClr val="91BF3A">
                <a:alpha val="2000"/>
              </a:srgbClr>
            </a:gs>
            <a:gs pos="45474">
              <a:srgbClr val="8CB930"/>
            </a:gs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shade val="94000"/>
                <a:lumMod val="94000"/>
                <a:alpha val="50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MENTOR</a:t>
          </a:r>
        </a:p>
      </dsp:txBody>
      <dsp:txXfrm>
        <a:off x="19419" y="875861"/>
        <a:ext cx="2694529" cy="358962"/>
      </dsp:txXfrm>
    </dsp:sp>
    <dsp:sp modelId="{7C8D6172-4F90-4E82-9394-87F43C51D96A}">
      <dsp:nvSpPr>
        <dsp:cNvPr id="0" name=""/>
        <dsp:cNvSpPr/>
      </dsp:nvSpPr>
      <dsp:spPr>
        <a:xfrm>
          <a:off x="0" y="1254242"/>
          <a:ext cx="2733367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8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 err="1"/>
            <a:t>Mrs</a:t>
          </a:r>
          <a:r>
            <a:rPr lang="en-US" sz="1300" kern="1200" dirty="0"/>
            <a:t> D Sameera</a:t>
          </a:r>
        </a:p>
      </dsp:txBody>
      <dsp:txXfrm>
        <a:off x="0" y="1254242"/>
        <a:ext cx="2733367" cy="281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BD46C-D8A1-4722-81F0-EA76211A642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4A6E6-6E27-4862-941C-33520D47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3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A6E6-6E27-4862-941C-33520D47AB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4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A6E6-6E27-4862-941C-33520D47AB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73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59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6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5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7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0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7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9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7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2444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1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0114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9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77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2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  <p:sldLayoutId id="2147483954" r:id="rId15"/>
    <p:sldLayoutId id="214748395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9703" y="597014"/>
            <a:ext cx="6088270" cy="3077442"/>
          </a:xfrm>
        </p:spPr>
        <p:txBody>
          <a:bodyPr>
            <a:normAutofit/>
          </a:bodyPr>
          <a:lstStyle/>
          <a:p>
            <a:r>
              <a:rPr lang="en-US" sz="4000" dirty="0"/>
              <a:t> </a:t>
            </a:r>
            <a:r>
              <a:rPr sz="4000" dirty="0"/>
              <a:t>Air</a:t>
            </a:r>
            <a:r>
              <a:rPr lang="en-US" sz="4000" dirty="0"/>
              <a:t>  </a:t>
            </a:r>
            <a:r>
              <a:rPr sz="4000" dirty="0"/>
              <a:t>Quality</a:t>
            </a:r>
            <a:r>
              <a:rPr lang="en-US" sz="4000" dirty="0"/>
              <a:t>  Prediction and Monitoring                                Using</a:t>
            </a:r>
            <a:r>
              <a:rPr sz="4000" dirty="0"/>
              <a:t> Machine Learning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D2D5BA0-44B9-FC31-B433-4B54560B2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294014"/>
              </p:ext>
            </p:extLst>
          </p:nvPr>
        </p:nvGraphicFramePr>
        <p:xfrm>
          <a:off x="4464219" y="4670323"/>
          <a:ext cx="2733367" cy="1563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Machine Learning Fundamentals, Applications, and Expert Insight">
            <a:extLst>
              <a:ext uri="{FF2B5EF4-FFF2-40B4-BE49-F238E27FC236}">
                <a16:creationId xmlns:a16="http://schemas.microsoft.com/office/drawing/2014/main" id="{B520E072-A82D-E676-58CF-E98B0DD04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666754" cy="1169043"/>
          </a:xfrm>
          <a:prstGeom prst="rect">
            <a:avLst/>
          </a:prstGeom>
          <a:noFill/>
          <a:effectLst>
            <a:reflection blurRad="63500" stA="68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7C58FB-EFE8-9884-4FEB-0C8BF45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92D300-9E97-97AE-F414-8B810E22B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Overview</a:t>
            </a:r>
          </a:p>
          <a:p>
            <a:r>
              <a:rPr lang="en-US" dirty="0"/>
              <a:t>Importance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Model Selection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AutoShape 8" descr="How a Table of Contents Helps Readers Navigate Content">
            <a:extLst>
              <a:ext uri="{FF2B5EF4-FFF2-40B4-BE49-F238E27FC236}">
                <a16:creationId xmlns:a16="http://schemas.microsoft.com/office/drawing/2014/main" id="{4CCA00AD-C1F9-5DF2-93F9-88BEAFA18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7163" y="2802037"/>
            <a:ext cx="1923327" cy="192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2" descr="How a Table of Contents Helps Readers Navigate Content">
            <a:extLst>
              <a:ext uri="{FF2B5EF4-FFF2-40B4-BE49-F238E27FC236}">
                <a16:creationId xmlns:a16="http://schemas.microsoft.com/office/drawing/2014/main" id="{AE2E849C-D147-F3A4-3844-16B3FBC8B9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5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This study explores the application of machine learning in Air Quality Index (AQI) monitoring.</a:t>
            </a:r>
          </a:p>
          <a:p>
            <a:r>
              <a:rPr dirty="0"/>
              <a:t>Traditional AQI prediction methods face limitations in accuracy and adaptability.</a:t>
            </a:r>
          </a:p>
          <a:p>
            <a:r>
              <a:rPr dirty="0"/>
              <a:t>Machine learning techniques enhance forecasting capabilities using real-time and historical data.</a:t>
            </a:r>
          </a:p>
          <a:p>
            <a:r>
              <a:rPr dirty="0"/>
              <a:t>Various models such as regression, random forests, and deep learning are evaluated.</a:t>
            </a:r>
          </a:p>
          <a:p>
            <a:r>
              <a:rPr dirty="0"/>
              <a:t>The findings highlight improvements in prediction accuracy and the need for further advancements in real-time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Air pollution is a critical environmental issue</a:t>
            </a:r>
            <a:r>
              <a:rPr lang="en-US" dirty="0"/>
              <a:t>.</a:t>
            </a:r>
          </a:p>
          <a:p>
            <a:r>
              <a:rPr lang="en-US" b="1" dirty="0"/>
              <a:t>Economic Consequences:</a:t>
            </a:r>
            <a:r>
              <a:rPr lang="en-US" dirty="0"/>
              <a:t> Air pollution leads to increased healthcare costs and reduced workforce productivity.</a:t>
            </a:r>
          </a:p>
          <a:p>
            <a:endParaRPr lang="en-US" dirty="0"/>
          </a:p>
          <a:p>
            <a:r>
              <a:rPr dirty="0"/>
              <a:t>The Air Quality Index (AQI) helps assess pollution levels.</a:t>
            </a:r>
          </a:p>
          <a:p>
            <a:r>
              <a:rPr dirty="0"/>
              <a:t>Machine learning enhances AQI prediction and monitoring.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Air Quality Index (AQI)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AQI categorizes air pollution levels.</a:t>
            </a:r>
          </a:p>
          <a:p>
            <a:r>
              <a:rPr dirty="0"/>
              <a:t> Major pollutants: PM2.5, PM10, NO2, SO2, CO, O3.</a:t>
            </a:r>
          </a:p>
          <a:p>
            <a:r>
              <a:rPr dirty="0"/>
              <a:t> High AQI values indicate worse air quality.</a:t>
            </a:r>
            <a:endParaRPr lang="en-US" dirty="0"/>
          </a:p>
          <a:p>
            <a:r>
              <a:rPr lang="en-US" b="1" dirty="0"/>
              <a:t>AQI Scale:</a:t>
            </a:r>
            <a:r>
              <a:rPr lang="en-US" dirty="0"/>
              <a:t> Ranges from 0 to 500</a:t>
            </a:r>
          </a:p>
          <a:p>
            <a:pPr marL="0" indent="0">
              <a:buNone/>
            </a:pPr>
            <a:r>
              <a:rPr lang="en-US" dirty="0"/>
              <a:t>        AQI </a:t>
            </a:r>
            <a:r>
              <a:rPr lang="en-US" b="1" dirty="0"/>
              <a:t>0-50 (Good)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/>
              <a:t>AQI </a:t>
            </a:r>
            <a:r>
              <a:rPr lang="en-US" b="1" dirty="0"/>
              <a:t>51-100 (Moderate)</a:t>
            </a:r>
          </a:p>
          <a:p>
            <a:pPr marL="0" indent="0">
              <a:buNone/>
            </a:pPr>
            <a:r>
              <a:rPr lang="en-US" dirty="0"/>
              <a:t>        AQI </a:t>
            </a:r>
            <a:r>
              <a:rPr lang="en-US" b="1" dirty="0"/>
              <a:t>101-150 (Unhealthy for Sensitive Groups)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AQI </a:t>
            </a:r>
            <a:r>
              <a:rPr lang="en-US" b="1" dirty="0"/>
              <a:t>151+ (Unhealthy/Hazardous)</a:t>
            </a:r>
          </a:p>
          <a:p>
            <a:pPr marL="0" indent="0">
              <a:buNone/>
            </a:pPr>
            <a:r>
              <a:rPr lang="en-US" b="1" dirty="0"/>
              <a:t>Real-Time Monitoring:</a:t>
            </a:r>
            <a:r>
              <a:rPr lang="en-US" dirty="0"/>
              <a:t> Sensors and satellite data help track AQI changes throughout the day</a:t>
            </a:r>
          </a:p>
        </p:txBody>
      </p:sp>
      <p:pic>
        <p:nvPicPr>
          <p:cNvPr id="3074" name="Picture 2" descr="Air Quality Index - used by government agencies to communicate to the public how polluted the air, text concept for presentations and reports">
            <a:extLst>
              <a:ext uri="{FF2B5EF4-FFF2-40B4-BE49-F238E27FC236}">
                <a16:creationId xmlns:a16="http://schemas.microsoft.com/office/drawing/2014/main" id="{947466AD-7E86-9759-CD04-DFA7068E9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019" y="3108378"/>
            <a:ext cx="1569234" cy="114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rstanding Your Air Quality Readings, the Overall Index (US), and Color  Scale">
            <a:extLst>
              <a:ext uri="{FF2B5EF4-FFF2-40B4-BE49-F238E27FC236}">
                <a16:creationId xmlns:a16="http://schemas.microsoft.com/office/drawing/2014/main" id="{43764F51-99B3-CA6A-1A70-36C7AB00B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71" y="1458708"/>
            <a:ext cx="65532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92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4889AAC9-B978-A80A-CFFE-4BDBDF6B6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1"/>
            <a:ext cx="6135329" cy="685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454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Importance of Air Quality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2767011"/>
          </a:xfrm>
        </p:spPr>
        <p:txBody>
          <a:bodyPr/>
          <a:lstStyle/>
          <a:p>
            <a:r>
              <a:rPr dirty="0"/>
              <a:t>Helps in public health awareness.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Supports policy-making and pollution control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Provides real-time data for better decision-making.</a:t>
            </a:r>
          </a:p>
        </p:txBody>
      </p:sp>
      <p:sp>
        <p:nvSpPr>
          <p:cNvPr id="4" name="AutoShape 2" descr="India's Air Quality Management and what is Air Quality Index? 2024">
            <a:extLst>
              <a:ext uri="{FF2B5EF4-FFF2-40B4-BE49-F238E27FC236}">
                <a16:creationId xmlns:a16="http://schemas.microsoft.com/office/drawing/2014/main" id="{9083F9A1-BE18-3BCE-5116-FDCABB10E4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6" descr="India's Air Quality Management and what is Air Quality Index? 2024">
            <a:extLst>
              <a:ext uri="{FF2B5EF4-FFF2-40B4-BE49-F238E27FC236}">
                <a16:creationId xmlns:a16="http://schemas.microsoft.com/office/drawing/2014/main" id="{C49B7D5E-FE34-F603-9F9D-8D77DB78FD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664" y="-301336"/>
            <a:ext cx="4035136" cy="403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Machine Learning in AQI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past data to predict future AQI levels.</a:t>
            </a:r>
          </a:p>
          <a:p>
            <a:r>
              <a:rPr dirty="0"/>
              <a:t>Common techniques: Regression, </a:t>
            </a:r>
            <a:r>
              <a:rPr lang="en-IN" dirty="0"/>
              <a:t>Decision Tree,</a:t>
            </a:r>
            <a:r>
              <a:rPr dirty="0"/>
              <a:t> Random Forest.</a:t>
            </a:r>
          </a:p>
          <a:p>
            <a:r>
              <a:rPr dirty="0"/>
              <a:t>Improves accuracy compared to traditional models.</a:t>
            </a:r>
            <a:endParaRPr lang="en-US" dirty="0"/>
          </a:p>
          <a:p>
            <a:r>
              <a:rPr lang="en-US" dirty="0"/>
              <a:t>Faster and more precise than traditional statistical methods.</a:t>
            </a:r>
          </a:p>
          <a:p>
            <a:r>
              <a:rPr lang="en-US" dirty="0"/>
              <a:t>Helps policymakers take proactive measures against pollution spikes.</a:t>
            </a:r>
          </a:p>
          <a:p>
            <a:r>
              <a:rPr lang="en-US" dirty="0"/>
              <a:t>Enables smart city planning by identifying high-risk pollution zones.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CD9A-BCB4-FF70-9DED-FA76D7E5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E50D-C72E-BA98-F18E-28E06B498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Data Collection &amp; Preprocessing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2. Exploratory Data Analysis (EDA) &amp; Feature Selection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3. Model Selection &amp; Training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4. Model Evaluation &amp; Metrics</a:t>
            </a:r>
          </a:p>
        </p:txBody>
      </p:sp>
    </p:spTree>
    <p:extLst>
      <p:ext uri="{BB962C8B-B14F-4D97-AF65-F5344CB8AC3E}">
        <p14:creationId xmlns:p14="http://schemas.microsoft.com/office/powerpoint/2010/main" val="3152810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Data collected from air quality monitoring stations.</a:t>
            </a:r>
            <a:endParaRPr lang="en-US" dirty="0"/>
          </a:p>
          <a:p>
            <a:r>
              <a:rPr lang="en-US" dirty="0"/>
              <a:t> Extracted the data of </a:t>
            </a:r>
            <a:r>
              <a:rPr lang="en-US" dirty="0" err="1"/>
              <a:t>delhi</a:t>
            </a:r>
            <a:r>
              <a:rPr lang="en-US" dirty="0"/>
              <a:t> city .</a:t>
            </a:r>
            <a:endParaRPr dirty="0"/>
          </a:p>
          <a:p>
            <a:r>
              <a:rPr dirty="0"/>
              <a:t> Features include pollutant concentrations, </a:t>
            </a:r>
            <a:r>
              <a:rPr lang="en-US" dirty="0"/>
              <a:t>  </a:t>
            </a:r>
            <a:r>
              <a:rPr dirty="0"/>
              <a:t>meteorological data.</a:t>
            </a:r>
          </a:p>
          <a:p>
            <a:r>
              <a:rPr dirty="0"/>
              <a:t> Data preprocessing: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Handling missing values, normalization.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 Selection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Models tested: Linear Regression, Random Forest, </a:t>
            </a:r>
            <a:r>
              <a:rPr lang="en-IN" dirty="0"/>
              <a:t>Decision Tree</a:t>
            </a:r>
            <a:r>
              <a:rPr dirty="0"/>
              <a:t>.</a:t>
            </a:r>
          </a:p>
          <a:p>
            <a:r>
              <a:rPr dirty="0"/>
              <a:t>Feature selection and model tuning.</a:t>
            </a:r>
          </a:p>
          <a:p>
            <a:r>
              <a:rPr dirty="0"/>
              <a:t>Performance metrics: RMSE, R² Score.</a:t>
            </a:r>
          </a:p>
        </p:txBody>
      </p:sp>
      <p:pic>
        <p:nvPicPr>
          <p:cNvPr id="5124" name="Picture 4" descr="Mastering Random Forest Regression: A Comprehensive Guide">
            <a:extLst>
              <a:ext uri="{FF2B5EF4-FFF2-40B4-BE49-F238E27FC236}">
                <a16:creationId xmlns:a16="http://schemas.microsoft.com/office/drawing/2014/main" id="{CDFB8A76-BD7D-C8F8-9B85-DE7550596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969" y="4599287"/>
            <a:ext cx="2108972" cy="127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ow to do Linear Regression in Machine Learning in Python?">
            <a:extLst>
              <a:ext uri="{FF2B5EF4-FFF2-40B4-BE49-F238E27FC236}">
                <a16:creationId xmlns:a16="http://schemas.microsoft.com/office/drawing/2014/main" id="{41682634-13AD-CD53-889E-38C37563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59" y="3713336"/>
            <a:ext cx="2128380" cy="127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D4F5-3B11-81D0-C6F9-A312F734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01C11-3080-BE88-9365-077B293C7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80" y="1488613"/>
            <a:ext cx="6441231" cy="475978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regression is a supervised learning algorithm used for predicting continuous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establishes a relationship between dependent and independent variables.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Finds the best-fit line by </a:t>
            </a:r>
          </a:p>
          <a:p>
            <a:pPr marL="0" indent="0">
              <a:buNone/>
            </a:pPr>
            <a:r>
              <a:rPr lang="en-US" dirty="0"/>
              <a:t>     minimizing the sum of</a:t>
            </a:r>
          </a:p>
          <a:p>
            <a:pPr marL="0" indent="0">
              <a:buNone/>
            </a:pPr>
            <a:r>
              <a:rPr lang="en-US" dirty="0"/>
              <a:t>     squared  residuals 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   Adjusts slope and intercept </a:t>
            </a:r>
          </a:p>
          <a:p>
            <a:pPr marL="0" indent="0">
              <a:buNone/>
            </a:pPr>
            <a:r>
              <a:rPr lang="en-US" dirty="0"/>
              <a:t>   to minimize prediction error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Linear Regression in Machine learning">
            <a:extLst>
              <a:ext uri="{FF2B5EF4-FFF2-40B4-BE49-F238E27FC236}">
                <a16:creationId xmlns:a16="http://schemas.microsoft.com/office/drawing/2014/main" id="{DBAD4657-CF85-83E9-DD1A-29D09CD46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695" y="2942973"/>
            <a:ext cx="3869450" cy="257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46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A6F9-C6A5-4C3D-4413-1A964507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D2C8-50DB-BFC8-21E1-97A4A974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54728"/>
            <a:ext cx="6347714" cy="4586636"/>
          </a:xfrm>
        </p:spPr>
        <p:txBody>
          <a:bodyPr/>
          <a:lstStyle/>
          <a:p>
            <a:r>
              <a:rPr lang="en-US" dirty="0"/>
              <a:t>Mean Squared Error (MSE)</a:t>
            </a:r>
          </a:p>
          <a:p>
            <a:r>
              <a:rPr lang="en-US" dirty="0"/>
              <a:t>Root Mean Squared Error (RMSE)</a:t>
            </a:r>
          </a:p>
          <a:p>
            <a:r>
              <a:rPr lang="en-US" dirty="0"/>
              <a:t>Mean Absolute Error (MAE)</a:t>
            </a:r>
          </a:p>
          <a:p>
            <a:r>
              <a:rPr lang="en-US" b="1" dirty="0"/>
              <a:t>R-squared (R2R^2R2)</a:t>
            </a:r>
            <a:r>
              <a:rPr lang="en-US" dirty="0"/>
              <a:t> – Measures goodness of fit</a:t>
            </a:r>
          </a:p>
        </p:txBody>
      </p:sp>
      <p:pic>
        <p:nvPicPr>
          <p:cNvPr id="4101" name="Picture 5" descr="DataTechNotes: Regression Model Accuracy (MAE, MSE, RMSE, R-squared) Check  in R">
            <a:extLst>
              <a:ext uri="{FF2B5EF4-FFF2-40B4-BE49-F238E27FC236}">
                <a16:creationId xmlns:a16="http://schemas.microsoft.com/office/drawing/2014/main" id="{8687C3E0-7FA8-EA6C-C2DC-A5D61F2A0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83" y="3234171"/>
            <a:ext cx="5008418" cy="298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499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3DB7-1EFF-A49C-6424-610A6951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2.Decision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3BE6-8930-6D46-C7C5-EA8B4C767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09136"/>
            <a:ext cx="6347714" cy="4232228"/>
          </a:xfrm>
        </p:spPr>
        <p:txBody>
          <a:bodyPr/>
          <a:lstStyle/>
          <a:p>
            <a:r>
              <a:rPr lang="en-US" dirty="0"/>
              <a:t>Decision Tree Regressor is a </a:t>
            </a:r>
            <a:r>
              <a:rPr lang="en-US" b="1" dirty="0"/>
              <a:t>supervised learning algorithm</a:t>
            </a:r>
            <a:r>
              <a:rPr lang="en-US" dirty="0"/>
              <a:t> used for predicting continuous values.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splits the data into smaller subsets and makes predictions based on tree-like structures.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Works well for </a:t>
            </a:r>
            <a:r>
              <a:rPr lang="en-US" b="1" dirty="0"/>
              <a:t>non-linear relationships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Splits data into nodes based on </a:t>
            </a:r>
            <a:r>
              <a:rPr lang="en-US" b="1" dirty="0"/>
              <a:t>feature values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08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25B-42A4-4C98-9432-C704E9C0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F460D-2930-6DA6-C26F-6516F1F29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Sample code snippet:</a:t>
            </a:r>
          </a:p>
          <a:p>
            <a:pPr marL="0" indent="0">
              <a:buNone/>
            </a:pPr>
            <a:r>
              <a:rPr lang="en-US" dirty="0"/>
              <a:t>         import pandas as pd</a:t>
            </a:r>
          </a:p>
          <a:p>
            <a:pPr marL="0" indent="0">
              <a:buNone/>
            </a:pPr>
            <a:r>
              <a:rPr lang="en-US" dirty="0"/>
              <a:t>        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         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import warnings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warnings.filterwarnings</a:t>
            </a:r>
            <a:r>
              <a:rPr lang="en-US" dirty="0"/>
              <a:t>("ignore")</a:t>
            </a:r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LabelEncoder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sklearn.tree</a:t>
            </a:r>
            <a:r>
              <a:rPr lang="en-US" dirty="0"/>
              <a:t> import </a:t>
            </a:r>
            <a:r>
              <a:rPr lang="en-US" dirty="0" err="1"/>
              <a:t>DecisionTreeRegressor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sklearn.ensemble</a:t>
            </a:r>
            <a:r>
              <a:rPr lang="en-US" dirty="0"/>
              <a:t> import </a:t>
            </a:r>
            <a:r>
              <a:rPr lang="en-US" dirty="0" err="1"/>
              <a:t>RandomForestRegressor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</a:t>
            </a:r>
            <a:r>
              <a:rPr lang="en-US" dirty="0"/>
              <a:t> import metrics</a:t>
            </a:r>
          </a:p>
          <a:p>
            <a:pPr marL="0" indent="0">
              <a:buNone/>
            </a:pPr>
            <a:r>
              <a:rPr lang="en-US" dirty="0"/>
              <a:t>         from </a:t>
            </a:r>
            <a:r>
              <a:rPr lang="en-US" dirty="0" err="1"/>
              <a:t>sklearn.metrics</a:t>
            </a:r>
            <a:r>
              <a:rPr lang="en-US" dirty="0"/>
              <a:t> import mean_absolute_error,mean_squared_error,r2_score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9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5BE9-DF40-155C-95BB-22E9BC7C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716317"/>
            <a:ext cx="6007509" cy="5057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0DF971-0668-08A9-3F67-93D4016D8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31" y="592367"/>
            <a:ext cx="48768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09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1CA86-A020-5A8E-3558-CDAF7D0E2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34" y="742950"/>
            <a:ext cx="5219700" cy="110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2632D5-2D11-FAEE-A3D9-A6BE1CE41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5" y="2112429"/>
            <a:ext cx="5920034" cy="461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7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611" y="4713090"/>
            <a:ext cx="6347714" cy="1666008"/>
          </a:xfrm>
        </p:spPr>
        <p:txBody>
          <a:bodyPr/>
          <a:lstStyle/>
          <a:p>
            <a:r>
              <a:rPr dirty="0"/>
              <a:t> Accuracy comparison of different models.</a:t>
            </a:r>
          </a:p>
          <a:p>
            <a:r>
              <a:rPr dirty="0"/>
              <a:t> Key findings from prediction analysis.</a:t>
            </a:r>
          </a:p>
          <a:p>
            <a:r>
              <a:rPr dirty="0"/>
              <a:t> Limitations and areas for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A5728-A33D-0ECC-75A4-D6E379CF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506332"/>
            <a:ext cx="2979175" cy="2279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93574E-2538-DFF8-6F19-3796E1CC2984}"/>
              </a:ext>
            </a:extLst>
          </p:cNvPr>
          <p:cNvSpPr txBox="1"/>
          <p:nvPr/>
        </p:nvSpPr>
        <p:spPr>
          <a:xfrm>
            <a:off x="681379" y="3908529"/>
            <a:ext cx="275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AQI values based on linear regression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E95D6-487E-EA8E-FE8F-324031BE5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43" y="1383223"/>
            <a:ext cx="2917169" cy="22843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A62F3B-821C-220A-3F2C-976329863003}"/>
              </a:ext>
            </a:extLst>
          </p:cNvPr>
          <p:cNvSpPr txBox="1"/>
          <p:nvPr/>
        </p:nvSpPr>
        <p:spPr>
          <a:xfrm>
            <a:off x="4257368" y="3970083"/>
            <a:ext cx="31561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AQI based on decision tree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availability and quality issues.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Computational challenges for complex models.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Need for real-time processing improvements.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Enhancing model accuracy with de</a:t>
            </a:r>
            <a:r>
              <a:rPr lang="en-US" dirty="0"/>
              <a:t>cision tree and </a:t>
            </a:r>
          </a:p>
          <a:p>
            <a:pPr marL="0" indent="0">
              <a:buNone/>
            </a:pPr>
            <a:r>
              <a:rPr lang="en-US" dirty="0"/>
              <a:t>      neural networking 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dirty="0"/>
          </a:p>
          <a:p>
            <a:r>
              <a:rPr dirty="0"/>
              <a:t> Integration for real-time monitoring.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 Developing a user-friendly AQI forecasting application.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  classify AQI values as good /bad 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improves AQI monitoring.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Further research needed for real-time implementation.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 References: [</a:t>
            </a:r>
            <a:r>
              <a:rPr lang="en-US" dirty="0"/>
              <a:t>KAGGLE and OPEN WEATHER</a:t>
            </a:r>
            <a:r>
              <a:rPr dirty="0"/>
              <a:t>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90642E-DF27-FD49-9532-C0C3876702A3}"/>
              </a:ext>
            </a:extLst>
          </p:cNvPr>
          <p:cNvSpPr txBox="1"/>
          <p:nvPr/>
        </p:nvSpPr>
        <p:spPr>
          <a:xfrm>
            <a:off x="3018503" y="6024717"/>
            <a:ext cx="2202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dirty="0"/>
              <a:t>THE END</a:t>
            </a:r>
          </a:p>
        </p:txBody>
      </p:sp>
      <p:pic>
        <p:nvPicPr>
          <p:cNvPr id="7170" name="Picture 2" descr="thanks for following me">
            <a:extLst>
              <a:ext uri="{FF2B5EF4-FFF2-40B4-BE49-F238E27FC236}">
                <a16:creationId xmlns:a16="http://schemas.microsoft.com/office/drawing/2014/main" id="{944526A9-81B1-BCF9-C628-47BA4786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37" y="854176"/>
            <a:ext cx="700087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8977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817</TotalTime>
  <Words>792</Words>
  <Application>Microsoft Office PowerPoint</Application>
  <PresentationFormat>On-screen Show (4:3)</PresentationFormat>
  <Paragraphs>142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Trebuchet MS</vt:lpstr>
      <vt:lpstr>Wingdings 3</vt:lpstr>
      <vt:lpstr>Facet</vt:lpstr>
      <vt:lpstr> Air  Quality  Prediction and Monitoring                                Using Machine Learning</vt:lpstr>
      <vt:lpstr>Table Of Contents </vt:lpstr>
      <vt:lpstr>Abstract</vt:lpstr>
      <vt:lpstr>Introduction</vt:lpstr>
      <vt:lpstr>Air Quality Index (AQI) Overview</vt:lpstr>
      <vt:lpstr>PowerPoint Presentation</vt:lpstr>
      <vt:lpstr>PowerPoint Presentation</vt:lpstr>
      <vt:lpstr>Importance of Air Quality Monitoring</vt:lpstr>
      <vt:lpstr>Machine Learning in AQI Prediction</vt:lpstr>
      <vt:lpstr>Project Architecture</vt:lpstr>
      <vt:lpstr>Methodology &amp; Dataset</vt:lpstr>
      <vt:lpstr>Model Selection &amp; Implementation</vt:lpstr>
      <vt:lpstr>1.Linear Regression</vt:lpstr>
      <vt:lpstr>Evaluation Metrics</vt:lpstr>
      <vt:lpstr>2.Decision Tree </vt:lpstr>
      <vt:lpstr>Implementation</vt:lpstr>
      <vt:lpstr>PowerPoint Presentation</vt:lpstr>
      <vt:lpstr>PowerPoint Presentation</vt:lpstr>
      <vt:lpstr>Results &amp; Discussion</vt:lpstr>
      <vt:lpstr>Challenges &amp; Limitations</vt:lpstr>
      <vt:lpstr>Future Work</vt:lpstr>
      <vt:lpstr>Conclusion &amp; 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siva durga prasad</dc:creator>
  <cp:keywords/>
  <dc:description>generated using python-pptx</dc:description>
  <cp:lastModifiedBy>chandrika kuna</cp:lastModifiedBy>
  <cp:revision>8</cp:revision>
  <dcterms:created xsi:type="dcterms:W3CDTF">2013-01-27T09:14:16Z</dcterms:created>
  <dcterms:modified xsi:type="dcterms:W3CDTF">2025-03-19T08:38:12Z</dcterms:modified>
  <cp:category/>
</cp:coreProperties>
</file>